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97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1CDD8-F8A5-EFDF-E533-05622CD4E8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412691-E274-5423-88B7-44B718BDC5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148B12-B98F-0743-A295-903F56019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FB5C4-CA5D-2406-26B6-7916C222B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D39AF-B936-ED21-4F66-0829F9E44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0513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2D248-31CA-C21C-FB07-C18E600E2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B7171-D12D-2712-C9C4-9EB92E573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56301-361D-8A0B-A28C-B899BA0C1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2C0FD-8855-04F4-0466-54652E36C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27392-DDBC-D788-E4E2-0AD0BB784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74849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15521-1791-8F91-FB03-D50033DA6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F3777A-DDFF-DF2F-F2BF-215145ED2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3AB37B-A201-89B6-C43C-9B2710573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4E46A-B1FA-9A30-3342-B958C584A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9C197-E0CE-4006-3AF7-E71486F9A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0395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8352E-7604-5617-3351-FA3AAA89B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D96D9-C062-2FEF-C5AF-64FDF6EBD0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7D8941-1A36-345E-FF28-5B0AF81FAB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163A39-6516-13FD-6F2C-0628D3079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6791A-2817-9967-8B35-F6D789B01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712EC3-ADB7-DA88-7B14-DB4FB5183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80948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1A908-3C60-3E73-4FC6-A8D7F6AF3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4B74CA-609F-2D72-589A-7360B7749D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81969E-3836-0706-4769-0F8A5C3D40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92D586-4C07-4704-DB57-1531B5667A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F2A51D-0AF0-866E-DB37-7B17CEDA50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D9E954-9790-1111-FF5D-BF49FF67C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9AD84A-F88A-B478-27AA-B4D096A39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8A8AA2-68C9-5191-70A7-CB365602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02683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A66BC-B675-E676-CC95-7BE4F9B4B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07DFE5-951B-2371-BFCD-7598B2797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DE5390-1103-0A1B-D2E6-59DD518A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A133F6-BB2A-E326-733A-DDE8F749C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85573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4CE107-9343-DC69-2FEB-B669F8759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DFFE8D-D011-3071-ADCE-D355854FF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BAAFC6-98C1-F3C2-4A4B-1D57B8F11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98039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17075-D03D-8166-274F-2D8797470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FBE5C-8BAB-D52B-7757-96CA9B3D1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8B0238-07FC-78BD-C607-D2783944C2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0E049-FBC2-4128-5637-A5BAF0FD9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5F7C33-7F3F-CF13-4213-C55EB0342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2B4CE2-7C25-D522-1101-88653D0B4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8813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071F9-58F3-5373-FB86-64451AC2F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DE7548-38AA-760A-BD31-465D7FC9B2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591493-4644-F9B9-CBD2-20B34D84C7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85BC1F-1123-A946-CAA3-55E587592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BA523-5236-B72C-417E-8B16834B3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342C08-7C8E-AFA2-BDDC-5BADE3217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89717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BA90D-82B1-021D-9572-8B4CF06A1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53AC1B-5332-07C2-D3BB-BEC6E86823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92E86A-184B-81F0-8130-20C60DAC9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AEDBC-C256-18DB-175E-E5BCEEAC0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B2D968-306B-5ED0-3D41-07D7E9CF8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20951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DE912-D959-C53A-5BE8-DDE5706FA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7A0165-2601-2A6B-4D69-A5318E814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1FAB7-71C9-CD7D-557B-94601B2A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8C049C-983C-AC86-90E2-A8DDB2B1E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4F8A5-E32F-FBF9-CA49-A26C173B4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5167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60732E-D000-41E0-0C7F-5FB74179A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7402F-596E-C912-8F04-6C59BF5C4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9442-2D65-8F73-FD25-C4E764D58C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FE3B9D-47C6-4666-9B3D-CDF6210FE922}" type="datetimeFigureOut">
              <a:rPr lang="en-IL" smtClean="0"/>
              <a:t>01/12/2025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8DD66-58DA-53E2-2C04-388F8B207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6378D-A8DC-3994-86C1-D4023C026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A1EC18-CC93-432D-BAFD-E766E4B5476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81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en.m.wikipedia.org/wiki/File:Full_GPT_architecture.png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researchgate.net/figure/GPT-2-model-architecture-The-GPT-2-model-contains-N-Transformer-decoder-blocks-as-shown_fig1_373352176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8BA3B-CEEE-2D09-C6A1-BE21522BB4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Batch Whitening</a:t>
            </a:r>
            <a:endParaRPr lang="en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CEECC1-1643-341B-E58B-527C922F9D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For NLP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845467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B6AFF-91B4-6243-5F82-D785EA649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 </a:t>
            </a:r>
            <a:r>
              <a:rPr lang="en-US" dirty="0" err="1"/>
              <a:t>LayerNorm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84348-41C6-0C90-BE62-81F5E31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Normalizes each sample independently across its feature (channel) dim</a:t>
            </a:r>
          </a:p>
          <a:p>
            <a:r>
              <a:rPr lang="en-US" sz="2400" dirty="0" err="1"/>
              <a:t>PyTorch’s</a:t>
            </a:r>
            <a:r>
              <a:rPr lang="en-US" sz="2400" dirty="0"/>
              <a:t> </a:t>
            </a:r>
            <a:r>
              <a:rPr lang="en-US" sz="2400" dirty="0" err="1"/>
              <a:t>LayerNorm</a:t>
            </a:r>
            <a:r>
              <a:rPr lang="en-US" sz="2400" dirty="0"/>
              <a:t> computes one mean per token</a:t>
            </a:r>
          </a:p>
          <a:p>
            <a:pPr lvl="1"/>
            <a:r>
              <a:rPr lang="en-US" sz="2000" dirty="0"/>
              <a:t>Example: with (B,T,D)=(2,10,100) there are B×T=20 different mean values, each covering its 100 channels</a:t>
            </a:r>
          </a:p>
          <a:p>
            <a:r>
              <a:rPr lang="en-US" sz="2400" dirty="0"/>
              <a:t>Doesn’t maintain running statistics</a:t>
            </a:r>
          </a:p>
          <a:p>
            <a:pPr lvl="1"/>
            <a:r>
              <a:rPr lang="en-US" sz="2000" dirty="0"/>
              <a:t>Inference uses the current input’s per-token mean and variance in the same way as training, then applies the learned gamma/beta affine parameters</a:t>
            </a:r>
            <a:endParaRPr lang="en-IL" sz="2000" dirty="0"/>
          </a:p>
        </p:txBody>
      </p:sp>
    </p:spTree>
    <p:extLst>
      <p:ext uri="{BB962C8B-B14F-4D97-AF65-F5344CB8AC3E}">
        <p14:creationId xmlns:p14="http://schemas.microsoft.com/office/powerpoint/2010/main" val="2035013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68819-9595-1D87-6991-C6A13BE4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GPT 2 Architecture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A10F4-ABCB-F84D-996A-3AAEF8B05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https://en.m.wikipedia.org/wiki/File:Full_GPT_architecture.png</a:t>
            </a:r>
            <a:endParaRPr lang="en-US" dirty="0"/>
          </a:p>
          <a:p>
            <a:pPr marL="0" indent="0">
              <a:buNone/>
            </a:pPr>
            <a:endParaRPr lang="en-I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E7FB47-B8DC-9D97-8C8E-6D0C03C397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921" y="2507100"/>
            <a:ext cx="3576769" cy="3931767"/>
          </a:xfrm>
          <a:prstGeom prst="rect">
            <a:avLst/>
          </a:prstGeom>
        </p:spPr>
      </p:pic>
      <p:sp>
        <p:nvSpPr>
          <p:cNvPr id="6" name="Right Brace 5">
            <a:extLst>
              <a:ext uri="{FF2B5EF4-FFF2-40B4-BE49-F238E27FC236}">
                <a16:creationId xmlns:a16="http://schemas.microsoft.com/office/drawing/2014/main" id="{E5A77824-7DE8-2E58-CAD5-87AA657C9901}"/>
              </a:ext>
            </a:extLst>
          </p:cNvPr>
          <p:cNvSpPr/>
          <p:nvPr/>
        </p:nvSpPr>
        <p:spPr>
          <a:xfrm>
            <a:off x="6434011" y="4250668"/>
            <a:ext cx="868489" cy="1667532"/>
          </a:xfrm>
          <a:prstGeom prst="rightBrace">
            <a:avLst>
              <a:gd name="adj1" fmla="val 8333"/>
              <a:gd name="adj2" fmla="val 5126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867FEC-6831-653A-F2DD-634713B76583}"/>
              </a:ext>
            </a:extLst>
          </p:cNvPr>
          <p:cNvSpPr txBox="1"/>
          <p:nvPr/>
        </p:nvSpPr>
        <p:spPr>
          <a:xfrm>
            <a:off x="7302500" y="4889500"/>
            <a:ext cx="3390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Multi-head masked attention / </a:t>
            </a:r>
            <a:r>
              <a:rPr lang="en-US" i="1" dirty="0" err="1"/>
              <a:t>CausalSelfAttention</a:t>
            </a:r>
            <a:endParaRPr lang="en-IL" i="1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1678D2E-19C1-85FB-EEC2-D9D992AA337D}"/>
              </a:ext>
            </a:extLst>
          </p:cNvPr>
          <p:cNvSpPr/>
          <p:nvPr/>
        </p:nvSpPr>
        <p:spPr>
          <a:xfrm>
            <a:off x="6335106" y="2927350"/>
            <a:ext cx="1068994" cy="903068"/>
          </a:xfrm>
          <a:prstGeom prst="rightBrace">
            <a:avLst>
              <a:gd name="adj1" fmla="val 8333"/>
              <a:gd name="adj2" fmla="val 5126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D8A3EE-919D-0A6D-8DC6-9D4F6CDAC6C2}"/>
              </a:ext>
            </a:extLst>
          </p:cNvPr>
          <p:cNvSpPr txBox="1"/>
          <p:nvPr/>
        </p:nvSpPr>
        <p:spPr>
          <a:xfrm>
            <a:off x="7404100" y="3061878"/>
            <a:ext cx="2603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Multi-layer perceptron /</a:t>
            </a:r>
          </a:p>
          <a:p>
            <a:r>
              <a:rPr lang="en-US" i="1" dirty="0"/>
              <a:t>MLP</a:t>
            </a:r>
            <a:endParaRPr lang="en-IL" i="1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5C1994D-A43F-9E0B-A40C-4E2AAA56BA7D}"/>
              </a:ext>
            </a:extLst>
          </p:cNvPr>
          <p:cNvSpPr/>
          <p:nvPr/>
        </p:nvSpPr>
        <p:spPr>
          <a:xfrm>
            <a:off x="3618129" y="3830418"/>
            <a:ext cx="947293" cy="2350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35DDFBC-099A-5FA8-3B9C-5A9748BE85E0}"/>
              </a:ext>
            </a:extLst>
          </p:cNvPr>
          <p:cNvSpPr/>
          <p:nvPr/>
        </p:nvSpPr>
        <p:spPr>
          <a:xfrm>
            <a:off x="5381235" y="3849468"/>
            <a:ext cx="947293" cy="2350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45E32D7-442B-1BE8-8CCB-E8950571DF62}"/>
              </a:ext>
            </a:extLst>
          </p:cNvPr>
          <p:cNvSpPr/>
          <p:nvPr/>
        </p:nvSpPr>
        <p:spPr>
          <a:xfrm>
            <a:off x="5387813" y="5899944"/>
            <a:ext cx="947293" cy="2350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78D25F-21F6-1958-4B10-832385FAEFAE}"/>
              </a:ext>
            </a:extLst>
          </p:cNvPr>
          <p:cNvCxnSpPr/>
          <p:nvPr/>
        </p:nvCxnSpPr>
        <p:spPr>
          <a:xfrm flipV="1">
            <a:off x="4425950" y="2927350"/>
            <a:ext cx="476250" cy="1784350"/>
          </a:xfrm>
          <a:prstGeom prst="line">
            <a:avLst/>
          </a:prstGeom>
          <a:ln w="12700"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13535F1-FC2F-69C4-C453-D28A3B31E8FF}"/>
              </a:ext>
            </a:extLst>
          </p:cNvPr>
          <p:cNvCxnSpPr>
            <a:cxnSpLocks/>
          </p:cNvCxnSpPr>
          <p:nvPr/>
        </p:nvCxnSpPr>
        <p:spPr>
          <a:xfrm>
            <a:off x="4425950" y="4756150"/>
            <a:ext cx="476250" cy="1295400"/>
          </a:xfrm>
          <a:prstGeom prst="line">
            <a:avLst/>
          </a:prstGeom>
          <a:ln w="12700"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5529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598C4-6C90-9660-09BA-5A01482B9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Similar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732F8-C0EB-B3CB-55AC-1032FF286B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https://www.researchgate.net/figure/GPT-2-model-architecture-The-GPT-2-model-contains-N-Transformer-decoder-blocks-as-shown_fig1_373352176</a:t>
            </a:r>
            <a:endParaRPr lang="en-US" dirty="0"/>
          </a:p>
          <a:p>
            <a:endParaRPr lang="en-I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CDDA97-F3E8-844B-C2EF-8CE0A7891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885" y="3258002"/>
            <a:ext cx="4181088" cy="323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517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48452-569D-C20A-2B40-7CCADBB45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and STD Dimensions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EAADB-8B57-16D8-899F-B150ED6E3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Efficient net:</a:t>
            </a:r>
          </a:p>
          <a:p>
            <a:pPr lvl="1"/>
            <a:r>
              <a:rPr lang="en-US" dirty="0"/>
              <a:t>Convolution </a:t>
            </a:r>
            <a:r>
              <a:rPr lang="en-US" b="0" i="0" dirty="0">
                <a:solidFill>
                  <a:srgbClr val="2222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[B, C, H, W] : mean/std over C,H,W (shape=[1, C, 1, 1])</a:t>
            </a:r>
          </a:p>
          <a:p>
            <a:pPr lvl="1"/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  <a:latin typeface="Arial" panose="020B0604020202020204" pitchFamily="34" charset="0"/>
              </a:rPr>
              <a:t>Fully connected [B, W] : mean/std oved B (shape=[1, W])</a:t>
            </a:r>
          </a:p>
          <a:p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  <a:latin typeface="Arial" panose="020B0604020202020204" pitchFamily="34" charset="0"/>
              </a:rPr>
              <a:t>GPT:</a:t>
            </a:r>
          </a:p>
          <a:p>
            <a:pPr lvl="1"/>
            <a:r>
              <a:rPr lang="en-US" dirty="0"/>
              <a:t>[B, T, C]  (batch, time/seq, channel/embedding size): mean/std over C (shape=B,T,1)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Example with </a:t>
            </a:r>
            <a:r>
              <a:rPr lang="en-US" dirty="0" err="1"/>
              <a:t>LayerNorm</a:t>
            </a:r>
            <a:r>
              <a:rPr lang="en-US" dirty="0"/>
              <a:t> </a:t>
            </a:r>
            <a:r>
              <a:rPr lang="en-US"/>
              <a:t>for nano GPT2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Input.shape</a:t>
            </a:r>
            <a:r>
              <a:rPr lang="en-US" dirty="0"/>
              <a:t> = [64, 256, 384]       (64 batch size, 256 seq/context size, 384 embedding)</a:t>
            </a:r>
          </a:p>
          <a:p>
            <a:pPr lvl="2"/>
            <a:r>
              <a:rPr lang="en-US" dirty="0" err="1"/>
              <a:t>F.layer_norm</a:t>
            </a:r>
            <a:r>
              <a:rPr lang="en-US" dirty="0"/>
              <a:t> is called with </a:t>
            </a:r>
            <a:r>
              <a:rPr lang="en-US" b="0" i="1" dirty="0" err="1">
                <a:solidFill>
                  <a:srgbClr val="6C6C6D"/>
                </a:solidFill>
                <a:effectLst/>
                <a:highlight>
                  <a:srgbClr val="F3F4F7"/>
                </a:highlight>
                <a:latin typeface="IBMPlexMono"/>
              </a:rPr>
              <a:t>normalized_shape</a:t>
            </a:r>
            <a:r>
              <a:rPr lang="en-US" b="0" i="1" dirty="0">
                <a:solidFill>
                  <a:srgbClr val="6C6C6D"/>
                </a:solidFill>
                <a:effectLst/>
                <a:highlight>
                  <a:srgbClr val="F3F4F7"/>
                </a:highlight>
                <a:latin typeface="IBMPlexMono"/>
              </a:rPr>
              <a:t>=(384,)</a:t>
            </a:r>
            <a:r>
              <a:rPr lang="en-US" dirty="0"/>
              <a:t>, i.e. dim=1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26239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3848</TotalTime>
  <Words>275</Words>
  <Application>Microsoft Office PowerPoint</Application>
  <PresentationFormat>Widescreen</PresentationFormat>
  <Paragraphs>25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IBMPlexMono</vt:lpstr>
      <vt:lpstr>Office Theme</vt:lpstr>
      <vt:lpstr>Batch Whitening</vt:lpstr>
      <vt:lpstr>Background - LayerNorm</vt:lpstr>
      <vt:lpstr>GPT 2 Architecture</vt:lpstr>
      <vt:lpstr>Similar</vt:lpstr>
      <vt:lpstr>Mean and STD Dimensions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Hadar Sivan</dc:creator>
  <cp:lastModifiedBy>Hadar Sivan</cp:lastModifiedBy>
  <cp:revision>13</cp:revision>
  <dcterms:created xsi:type="dcterms:W3CDTF">2024-07-14T11:32:47Z</dcterms:created>
  <dcterms:modified xsi:type="dcterms:W3CDTF">2025-12-01T11:25:04Z</dcterms:modified>
</cp:coreProperties>
</file>